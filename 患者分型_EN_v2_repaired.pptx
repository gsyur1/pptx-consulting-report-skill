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  <p:sldMasterId id="2147484331" r:id="rId2"/>
    <p:sldMasterId id="2147484399" r:id="rId3"/>
    <p:sldMasterId id="2147484435" r:id="rId4"/>
    <p:sldMasterId id="2147484465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9144000" cy="5143500" type="screen16x9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9FEF0E-6A9C-4907-8ECD-0F7B8B10207F}">
          <p14:sldIdLst>
            <p14:sldId id="256"/>
          </p14:sldIdLst>
        </p14:section>
        <p14:section name="项目设计回顾及进度" id="{3370842C-210E-480D-8F79-FF93D7316138}">
          <p14:sldIdLst/>
        </p14:section>
        <p14:section name="1. 小细胞肺癌（SCLC）疾病概况" id="{06869EB1-D949-44E1-9E8C-912849F55441}">
          <p14:sldIdLst/>
        </p14:section>
        <p14:section name="2. SCLC 诊疗路径及治疗目标" id="{78490BAC-5DE0-4123-B438-3AED0373515C}">
          <p14:sldIdLst/>
        </p14:section>
        <p14:section name="3. HS-20093 临床反馈" id="{896CFD19-F0AF-4216-A17E-E3BC187D2DFA}">
          <p14:sldIdLst/>
        </p14:section>
        <p14:section name="3.1 新疗法/新靶点认知" id="{042AE755-D530-43DC-935C-5261718D260B}">
          <p14:sldIdLst/>
        </p14:section>
        <p14:section name="3.2 HS-20093 临床测试反馈" id="{C119C042-11B4-457A-9DC8-EC69760C4B1B}">
          <p14:sldIdLst/>
        </p14:section>
        <p14:section name="3.3 B7-H3 ADC SCLC 在研产品对比" id="{3789C2CA-6067-46AF-A952-083DC7762FF3}">
          <p14:sldIdLst/>
        </p14:section>
        <p14:section name="HS-20093关键机会点总结" id="{8FFFC6CE-FB28-4F3F-B39F-B85C496D6E32}">
          <p14:sldIdLst/>
        </p14:section>
        <p14:section name="附录" id="{64607388-BDEA-4176-83A2-A939E8D4A4C7}">
          <p14:sldIdLst/>
        </p14:section>
      </p14:sectionLst>
    </p:ext>
    <p:ext uri="{EFAFB233-063F-42B5-8137-9DF3F51BA10A}">
      <p15:sldGuideLst xmlns:p15="http://schemas.microsoft.com/office/powerpoint/2012/main">
        <p15:guide id="1" pos="272" userDrawn="1">
          <p15:clr>
            <a:srgbClr val="A4A3A4"/>
          </p15:clr>
        </p15:guide>
        <p15:guide id="2" orient="horz" pos="18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CBB00-E5EA-E958-5BF1-62D6E08935EF}" name="Adele Wu" initials="AW" userId="Adele Wu" providerId="None"/>
  <p188:author id="{6290F807-2FB8-C0B3-D928-4306A20222DF}" name="Sanne Gui" initials="SG" userId="S-1-5-21-4176529840-3758500571-3342391617-14482" providerId="AD"/>
  <p188:author id="{4093271B-CF17-4E9C-5387-5C677F6AFC75}" name="Dennis Wang" initials="DW" userId="8f9f9bb248e45575" providerId="Windows Live"/>
  <p188:author id="{748C5624-1E14-270F-45BB-169EB791D96E}" name="Gao, Yanbing" initials="YG" userId="S::yanbing.gao@iqvia.com::51ee820a-fe05-4b2e-bfb7-550bd0cdf8f6" providerId="AD"/>
  <p188:author id="{4D874F47-0193-19D9-4FCA-2E2D6C1473F5}" name="Eleana Wang" initials="EW" userId="S-1-5-21-4176529840-3758500571-3342391617-16672" providerId="AD"/>
  <p188:author id="{53CCF057-DA6D-5E60-2DC9-898918403732}" name="Mars Wan" initials="MW" userId="S-1-5-21-4176529840-3758500571-3342391617-16680" providerId="AD"/>
  <p188:author id="{6A893666-C85B-F5D5-D9A7-6442AC105FEE}" name="Jiang, Tracy" initials="TJ" userId="S::tracy.jiang@iqvia.com::797300cd-5ea5-4dea-ab3a-adb1e1491123" providerId="AD"/>
  <p188:author id="{6CDC2067-95AF-8B78-6F6D-DA8F5AA239B8}" name="Wang, Jin" initials="JW" userId="S::jin.wang3@iqvia.com::15286307-37b2-4216-98b9-a8a6377cebe6" providerId="AD"/>
  <p188:author id="{6C96106B-5179-4545-D78C-914D82D74509}" name="Cici Xu" initials="C" userId="S::Cici.Xu@illuminera.com::57ed9a9c-5ece-4e1b-8f31-5c67ac13ab29" providerId="AD"/>
  <p188:author id="{70EA447D-CB26-33E5-2FF2-8D7C00944612}" name="Wu, Adele" initials="AW" userId="S::adele.wu@iqvia.com::e853c65f-6baa-40e9-aa93-4fbfbf599ac1" providerId="AD"/>
  <p188:author id="{DFF19D9D-7780-BB67-D925-1E7AC1D47F84}" name="iHEALTH" initials="i" userId="S::IlluminHealth-Adele@illuminConference.onmicrosoft.com::b67b3c67-61ab-4d54-85cc-ee5aeee034f4" providerId="AD"/>
  <p188:author id="{DDC9DEA7-1F15-9607-4674-5F037158A738}" name="Xu, Cici" initials="CX" userId="S::cici.xu@iqvia.com::b1b2ad97-988c-4f69-a8b5-f036c956dc56" providerId="AD"/>
  <p188:author id="{F2982BB4-C606-F75E-398E-52078EC684F1}" name="Chen, Ariel" initials="AC" userId="S::ariel.chen@iqvia.com::a6494be1-fa41-4c4b-8f9b-f7f7648f6f61" providerId="AD"/>
  <p188:author id="{AEB479B6-EC02-1DF1-EAC2-BC517EE75FEF}" name="Jin Wang" initials="JW" userId="S-1-5-21-4176529840-3758500571-3342391617-14489" providerId="AD"/>
  <p188:author id="{1DFFEDC3-23AA-68BB-0816-E7C00C277A5C}" name="珏 文" initials="珏文" userId="aba3b69d15165f8b" providerId="Windows Live"/>
  <p188:author id="{5CA1DED7-05AC-5FDC-6C9D-80EA1635A7CB}" name="Grace Chen" initials="CG" userId="S::Grace.Chen@illuminera.com::fd0f472d-8db1-49c0-8fec-7b65a10fe094" providerId="AD"/>
  <p188:author id="{6DAAD0E0-230A-BADC-416C-89129D0EEE6B}" name="LiJiaxi" initials="JL" userId="S::jl11322@nyu.edu::3482cc7e-71ed-4c50-8943-27354c8d4ac7" providerId="AD"/>
  <p188:author id="{83B298F0-A315-A6C8-8FD4-70686F0B68E8}" name="Chen, Grace" initials="GC" userId="S::grace.chen@iqvia.com::415c4dc7-4001-442c-a93a-60c9c3b817bb" providerId="AD"/>
  <p188:author id="{299C29FD-A9A7-9C67-6135-5F1BBAE4299D}" name="Yue Yu" initials="YY" userId="S-1-5-21-4176529840-3758500571-3342391617-1575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olanda Yan" initials="YY" lastIdx="81" clrIdx="6">
    <p:extLst>
      <p:ext uri="{19B8F6BF-5375-455C-9EA6-DF929625EA0E}">
        <p15:presenceInfo xmlns:p15="http://schemas.microsoft.com/office/powerpoint/2012/main" userId="S::Yolanda.Yan@illuminera.com::be6a8e7d-5181-43f1-a115-5db8c9edd13b" providerId="AD"/>
      </p:ext>
    </p:extLst>
  </p:cmAuthor>
  <p:cmAuthor id="1" name="Hayley Yan" initials="HY" lastIdx="110" clrIdx="0">
    <p:extLst>
      <p:ext uri="{19B8F6BF-5375-455C-9EA6-DF929625EA0E}">
        <p15:presenceInfo xmlns:p15="http://schemas.microsoft.com/office/powerpoint/2012/main" userId="Hayley Yan" providerId="None"/>
      </p:ext>
    </p:extLst>
  </p:cmAuthor>
  <p:cmAuthor id="8" name="Frisk Liao" initials="FL" lastIdx="28" clrIdx="7">
    <p:extLst>
      <p:ext uri="{19B8F6BF-5375-455C-9EA6-DF929625EA0E}">
        <p15:presenceInfo xmlns:p15="http://schemas.microsoft.com/office/powerpoint/2012/main" userId="S-1-5-21-4176529840-3758500571-3342391617-15630" providerId="AD"/>
      </p:ext>
    </p:extLst>
  </p:cmAuthor>
  <p:cmAuthor id="2" name="Vicky Wang" initials="VW" lastIdx="44" clrIdx="1">
    <p:extLst>
      <p:ext uri="{19B8F6BF-5375-455C-9EA6-DF929625EA0E}">
        <p15:presenceInfo xmlns:p15="http://schemas.microsoft.com/office/powerpoint/2012/main" userId="S-1-5-21-4176529840-3758500571-3342391617-14396" providerId="AD"/>
      </p:ext>
    </p:extLst>
  </p:cmAuthor>
  <p:cmAuthor id="3" name="Grace Chen" initials="GC [2]" lastIdx="232" clrIdx="2">
    <p:extLst>
      <p:ext uri="{19B8F6BF-5375-455C-9EA6-DF929625EA0E}">
        <p15:presenceInfo xmlns:p15="http://schemas.microsoft.com/office/powerpoint/2012/main" userId="Grace Chen" providerId="None"/>
      </p:ext>
    </p:extLst>
  </p:cmAuthor>
  <p:cmAuthor id="4" name="Adele Wu" initials="AW" lastIdx="96" clrIdx="3">
    <p:extLst>
      <p:ext uri="{19B8F6BF-5375-455C-9EA6-DF929625EA0E}">
        <p15:presenceInfo xmlns:p15="http://schemas.microsoft.com/office/powerpoint/2012/main" userId="Adele Wu" providerId="None"/>
      </p:ext>
    </p:extLst>
  </p:cmAuthor>
  <p:cmAuthor id="5" name="Adele Wu" initials="AW [2]" lastIdx="30" clrIdx="4">
    <p:extLst>
      <p:ext uri="{19B8F6BF-5375-455C-9EA6-DF929625EA0E}">
        <p15:presenceInfo xmlns:p15="http://schemas.microsoft.com/office/powerpoint/2012/main" userId="S-1-5-21-4176529840-3758500571-3342391617-1115" providerId="AD"/>
      </p:ext>
    </p:extLst>
  </p:cmAuthor>
  <p:cmAuthor id="6" name="Jessica Zhao" initials="JZ" lastIdx="3" clrIdx="5">
    <p:extLst>
      <p:ext uri="{19B8F6BF-5375-455C-9EA6-DF929625EA0E}">
        <p15:presenceInfo xmlns:p15="http://schemas.microsoft.com/office/powerpoint/2012/main" userId="S-1-5-21-4176529840-3758500571-3342391617-134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2"/>
    <a:srgbClr val="CEF3F8"/>
    <a:srgbClr val="FFFFFF"/>
    <a:srgbClr val="9EE6F0"/>
    <a:srgbClr val="B7DAFF"/>
    <a:srgbClr val="FFEEE5"/>
    <a:srgbClr val="FFDDCC"/>
    <a:srgbClr val="7F7F7F"/>
    <a:srgbClr val="BFFFED"/>
    <a:srgbClr val="6DD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A6B8-AD8A-480D-9583-4BFE8A96D2D9}" v="1" dt="2026-08-10T02:16:2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80" y="270"/>
      </p:cViewPr>
      <p:guideLst>
        <p:guide pos="272"/>
        <p:guide orient="horz" pos="1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AF28-CE15-954B-A69C-87156E8C37CF}" type="slidenum">
              <a:rPr kumimoji="1" lang="zh-CN" altLang="en-US" smtClean="0">
                <a:latin typeface="微软雅黑" charset="-122"/>
                <a:ea typeface="微软雅黑" charset="-122"/>
              </a:rPr>
              <a:t>‹#›</a:t>
            </a:fld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D2F7B-AA04-E94F-AA4C-9324406784C9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198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E7349437-D966-C042-AD07-08DC5F57FA61}" type="datetimeFigureOut">
              <a:rPr kumimoji="1" lang="zh-CN" altLang="en-US" smtClean="0"/>
              <a:pPr/>
              <a:t>2026/9/17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D4AC4EF1-E5F2-CA4A-85CD-8687DF9A475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56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21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png"/><Relationship Id="rId5" Type="http://schemas.openxmlformats.org/officeDocument/2006/relationships/image" Target="../media/image20.emf"/><Relationship Id="rId4" Type="http://schemas.openxmlformats.org/officeDocument/2006/relationships/oleObject" Target="../embeddings/oleObject5.bin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microsoft.com/office/2007/relationships/hdphoto" Target="../media/hdphoto1.wdp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6.bin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5.png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55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9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9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8139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44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611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70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think-cell 幻灯片" r:id="rId4" imgW="426" imgH="428" progId="TCLayout.ActiveDocument.1">
                  <p:embed/>
                </p:oleObj>
              </mc:Choice>
              <mc:Fallback>
                <p:oleObj name="think-cell 幻灯片" r:id="rId4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7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26207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753305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23892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49131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285543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978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单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A21A-6CD0-4C44-BD01-72E54511D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r="6894" b="4502"/>
          <a:stretch/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7369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910CA-74DD-EDE5-2B65-480D162341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6065" y="816430"/>
            <a:ext cx="3360423" cy="3649436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362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2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4" y="2997845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585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143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8522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3063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2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1" y="4165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77015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30" y="169508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30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30" y="219505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30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30" y="2698344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30" y="2953301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30" y="3198321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30" y="3453278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30" y="3698298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30" y="395325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30" y="420268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30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8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91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34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35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92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8918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导航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1168400"/>
            <a:ext cx="8298999" cy="332263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84750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5" y="4752976"/>
            <a:ext cx="4400780" cy="13903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334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67872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99A622AF-547A-F770-13A2-D6B31ACB95C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7598769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think-cell 幻灯片" r:id="rId4" imgW="470" imgH="469" progId="TCLayout.ActiveDocument.1">
                  <p:embed/>
                </p:oleObj>
              </mc:Choice>
              <mc:Fallback>
                <p:oleObj name="think-cell 幻灯片" r:id="rId4" imgW="470" imgH="46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99A622AF-547A-F770-13A2-D6B31ACB9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rIns="9144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60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5485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7240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内页1行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Gill Sans MT" charset="0"/>
                <a:cs typeface="Gill Sans MT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0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213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922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846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3256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73900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540" y="4752976"/>
            <a:ext cx="4400780" cy="139035"/>
          </a:xfrm>
          <a:prstGeom prst="rect">
            <a:avLst/>
          </a:prstGeom>
        </p:spPr>
        <p:txBody>
          <a:bodyPr wrap="none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75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799">
          <p15:clr>
            <a:srgbClr val="FBAE40"/>
          </p15:clr>
        </p15:guide>
        <p15:guide id="6" pos="143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4289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69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127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B8809E84-B289-68AE-36BD-B5892A8B73F6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7708089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think-cell 幻灯片" r:id="rId4" imgW="499" imgH="499" progId="TCLayout.ActiveDocument.1">
                  <p:embed/>
                </p:oleObj>
              </mc:Choice>
              <mc:Fallback>
                <p:oleObj name="think-cell 幻灯片" r:id="rId4" imgW="499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B8809E84-B289-68AE-36BD-B5892A8B7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BC123F0-2DCD-B97F-2C0C-B95D98B9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864" y="114501"/>
            <a:ext cx="8640313" cy="570880"/>
          </a:xfrm>
          <a:prstGeom prst="rect">
            <a:avLst/>
          </a:prstGeom>
        </p:spPr>
        <p:txBody>
          <a:bodyPr vert="horz" tIns="0" bIns="0" anchor="b"/>
          <a:lstStyle>
            <a:lvl1pPr algn="l">
              <a:lnSpc>
                <a:spcPct val="100000"/>
              </a:lnSpc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br>
              <a:rPr lang="en-US" altLang="zh-CN"/>
            </a:br>
            <a:br>
              <a:rPr lang="en-US" altLang="zh-CN"/>
            </a:br>
            <a:r>
              <a:rPr lang="en-US" altLang="zh-CN"/>
              <a:t>Headline</a:t>
            </a:r>
            <a:br>
              <a:rPr lang="en-US" altLang="zh-CN"/>
            </a:br>
            <a:r>
              <a:rPr lang="en-US" altLang="zh-CN"/>
              <a:t>Headline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>
          <p15:clr>
            <a:srgbClr val="FBAE40"/>
          </p15:clr>
        </p15:guide>
        <p15:guide id="2" orient="horz" pos="441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pos="2880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6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think-cell 幻灯片" r:id="rId4" imgW="426" imgH="428" progId="TCLayout.ActiveDocument.1">
                  <p:embed/>
                </p:oleObj>
              </mc:Choice>
              <mc:Fallback>
                <p:oleObj name="think-cell 幻灯片" r:id="rId4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8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050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360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35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45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084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9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vmlDrawing" Target="../drawings/vmlDrawing3.v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3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oleObject" Target="../embeddings/oleObject4.bin"/><Relationship Id="rId3" Type="http://schemas.openxmlformats.org/officeDocument/2006/relationships/slideLayout" Target="../slideLayouts/slideLayout26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5.xml"/><Relationship Id="rId16" Type="http://schemas.openxmlformats.org/officeDocument/2006/relationships/vmlDrawing" Target="../drawings/vmlDrawing4.v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40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ags" Target="../tags/tag7.xml"/><Relationship Id="rId2" Type="http://schemas.openxmlformats.org/officeDocument/2006/relationships/slideLayout" Target="../slideLayouts/slideLayout39.xml"/><Relationship Id="rId16" Type="http://schemas.openxmlformats.org/officeDocument/2006/relationships/vmlDrawing" Target="../drawings/vmlDrawing6.v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7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slideLayout" Target="../slideLayouts/slideLayout54.xml"/><Relationship Id="rId7" Type="http://schemas.openxmlformats.org/officeDocument/2006/relationships/tags" Target="../tags/tag10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vmlDrawing" Target="../drawings/vmlDrawing9.v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6" r:id="rId5"/>
    <p:sldLayoutId id="2147484121" r:id="rId6"/>
    <p:sldLayoutId id="2147484332" r:id="rId7"/>
    <p:sldLayoutId id="2147484458" r:id="rId8"/>
    <p:sldLayoutId id="2147484456" r:id="rId9"/>
    <p:sldLayoutId id="2147484459" r:id="rId10"/>
    <p:sldLayoutId id="2147484460" r:id="rId11"/>
    <p:sldLayoutId id="2147484463" r:id="rId12"/>
    <p:sldLayoutId id="2147484464" r:id="rId13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30385943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think-cell 幻灯片" r:id="rId14" imgW="498" imgH="499" progId="TCLayout.ActiveDocument.1">
                  <p:embed/>
                </p:oleObj>
              </mc:Choice>
              <mc:Fallback>
                <p:oleObj name="think-cell 幻灯片" r:id="rId14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7" y="4980931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2" y="4914305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AB22594-D72A-56B4-7FA0-C96E60AB68AD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1" r:id="rId9"/>
    <p:sldLayoutId id="2147484342" r:id="rId10"/>
  </p:sldLayoutIdLst>
  <p:hf sldNum="0"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8B663-0056-42DA-A9AC-F91256F7750D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6678973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think-cell 幻灯片" r:id="rId18" imgW="415" imgH="416" progId="TCLayout.ActiveDocument.1">
                  <p:embed/>
                </p:oleObj>
              </mc:Choice>
              <mc:Fallback>
                <p:oleObj name="think-cell 幻灯片" r:id="rId18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8B663-0056-42DA-A9AC-F91256F77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C61A0E-E0F8-4C74-8748-73F1EBE8ECC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9CEED5B-ED14-2D24-ACF1-2F5113D709B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1" r:id="rId12"/>
    <p:sldLayoutId id="2147484412" r:id="rId13"/>
    <p:sldLayoutId id="2147484413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think-cell 幻灯片" r:id="rId18" imgW="498" imgH="499" progId="TCLayout.ActiveDocument.1">
                  <p:embed/>
                </p:oleObj>
              </mc:Choice>
              <mc:Fallback>
                <p:oleObj name="think-cell 幻灯片" r:id="rId18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8" r:id="rId12"/>
    <p:sldLayoutId id="2147484449" r:id="rId13"/>
    <p:sldLayoutId id="2147484450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18602732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think-cell 幻灯片" r:id="rId8" imgW="498" imgH="499" progId="TCLayout.ActiveDocument.1">
                  <p:embed/>
                </p:oleObj>
              </mc:Choice>
              <mc:Fallback>
                <p:oleObj name="think-cell 幻灯片" r:id="rId8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775" y="456255"/>
            <a:ext cx="8298983" cy="251075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b">
            <a:spAutoFit/>
          </a:bodyPr>
          <a:lstStyle/>
          <a:p>
            <a:pPr algn="l"/>
            <a:r>
              <a:rPr sz="1800" b="0" dirty="0">
                <a:solidFill>
                  <a:srgbClr val="465059"/>
                </a:solidFill>
                <a:latin typeface="Calibri"/>
                <a:ea typeface="微软雅黑"/>
              </a:rPr>
              <a:t>Three patient segments offer differentiated potential for the novel agent: the greater the dissatisfaction with current anti-VEGF therapy, the higher the opportunity</a:t>
            </a:r>
          </a:p>
        </p:txBody>
      </p:sp>
      <p:sp>
        <p:nvSpPr>
          <p:cNvPr id="901" name="curved_arrow"/>
          <p:cNvSpPr/>
          <p:nvPr/>
        </p:nvSpPr>
        <p:spPr>
          <a:xfrm rot="9142895" flipH="1">
            <a:off x="-72284" y="1238842"/>
            <a:ext cx="6585884" cy="1664401"/>
          </a:xfrm>
          <a:prstGeom prst="arc">
            <a:avLst>
              <a:gd name="adj1" fmla="val 11253275"/>
              <a:gd name="adj2" fmla="val 21035249"/>
            </a:avLst>
          </a:prstGeom>
          <a:ln w="31750">
            <a:solidFill>
              <a:srgbClr val="1EB3C8"/>
            </a:solidFill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sp>
      <p:cxnSp>
        <p:nvCxnSpPr>
          <p:cNvPr id="902" name="Connector 901"/>
          <p:cNvCxnSpPr/>
          <p:nvPr/>
        </p:nvCxnSpPr>
        <p:spPr>
          <a:xfrm flipV="1">
            <a:off x="804975" y="1174379"/>
            <a:ext cx="0" cy="2591745"/>
          </a:xfrm>
          <a:prstGeom prst="line">
            <a:avLst/>
          </a:prstGeom>
          <a:ln w="19050">
            <a:solidFill>
              <a:srgbClr val="8F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>
            <a:cxnSpLocks/>
          </p:cNvCxnSpPr>
          <p:nvPr/>
        </p:nvCxnSpPr>
        <p:spPr>
          <a:xfrm>
            <a:off x="801822" y="3766129"/>
            <a:ext cx="5515556" cy="0"/>
          </a:xfrm>
          <a:prstGeom prst="line">
            <a:avLst/>
          </a:prstGeom>
          <a:ln w="19050">
            <a:solidFill>
              <a:srgbClr val="8F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" name="TextBox 903"/>
          <p:cNvSpPr txBox="1"/>
          <p:nvPr/>
        </p:nvSpPr>
        <p:spPr>
          <a:xfrm rot="16200000">
            <a:off x="-493597" y="2312052"/>
            <a:ext cx="2159787" cy="188981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ctr">
            <a:spAutoFit/>
          </a:bodyPr>
          <a:lstStyle/>
          <a:p>
            <a:pPr algn="ctr"/>
            <a:r>
              <a:rPr sz="952" b="1" dirty="0">
                <a:solidFill>
                  <a:srgbClr val="465059"/>
                </a:solidFill>
                <a:latin typeface="Calibri"/>
                <a:ea typeface="微软雅黑"/>
              </a:rPr>
              <a:t>Potential for the novel agent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505792" y="1068672"/>
            <a:ext cx="253773" cy="147164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 dirty="0">
                <a:solidFill>
                  <a:srgbClr val="797979"/>
                </a:solidFill>
                <a:latin typeface="Calibri"/>
                <a:ea typeface="微软雅黑"/>
              </a:rPr>
              <a:t>High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411285" y="3834319"/>
            <a:ext cx="4103596" cy="173775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ctr"/>
            <a:r>
              <a:rPr sz="952" b="1" dirty="0">
                <a:solidFill>
                  <a:srgbClr val="465059"/>
                </a:solidFill>
                <a:latin typeface="Calibri"/>
                <a:ea typeface="微软雅黑"/>
              </a:rPr>
              <a:t>Dissatisfaction with current anti-VEGF therapy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558846" y="3825522"/>
            <a:ext cx="242976" cy="148485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 dirty="0">
                <a:solidFill>
                  <a:srgbClr val="797979"/>
                </a:solidFill>
                <a:latin typeface="Calibri"/>
                <a:ea typeface="微软雅黑"/>
              </a:rPr>
              <a:t>Low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074402" y="3830061"/>
            <a:ext cx="242976" cy="148485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 dirty="0">
                <a:solidFill>
                  <a:srgbClr val="797979"/>
                </a:solidFill>
                <a:latin typeface="Calibri"/>
                <a:ea typeface="微软雅黑"/>
              </a:rPr>
              <a:t>High</a:t>
            </a:r>
          </a:p>
        </p:txBody>
      </p:sp>
      <p:sp>
        <p:nvSpPr>
          <p:cNvPr id="910" name="Oval 909"/>
          <p:cNvSpPr/>
          <p:nvPr/>
        </p:nvSpPr>
        <p:spPr>
          <a:xfrm>
            <a:off x="4701209" y="1337772"/>
            <a:ext cx="701930" cy="701930"/>
          </a:xfrm>
          <a:prstGeom prst="ellipse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9C2AE2-AF23-4205-A7B6-9240FE1DE761}"/>
              </a:ext>
            </a:extLst>
          </p:cNvPr>
          <p:cNvGrpSpPr/>
          <p:nvPr/>
        </p:nvGrpSpPr>
        <p:grpSpPr>
          <a:xfrm>
            <a:off x="4884791" y="1602346"/>
            <a:ext cx="334767" cy="172782"/>
            <a:chOff x="4884791" y="1602346"/>
            <a:chExt cx="334767" cy="172782"/>
          </a:xfrm>
        </p:grpSpPr>
        <p:sp>
          <p:nvSpPr>
            <p:cNvPr id="911" name="Oval 910"/>
            <p:cNvSpPr/>
            <p:nvPr/>
          </p:nvSpPr>
          <p:spPr>
            <a:xfrm>
              <a:off x="4884791" y="1602346"/>
              <a:ext cx="334767" cy="172782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2" name="Oval 911"/>
            <p:cNvSpPr/>
            <p:nvPr/>
          </p:nvSpPr>
          <p:spPr>
            <a:xfrm>
              <a:off x="5008978" y="1645542"/>
              <a:ext cx="86391" cy="8639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1A3DFB-6C20-46A1-984B-1A7D641EA825}"/>
              </a:ext>
            </a:extLst>
          </p:cNvPr>
          <p:cNvGrpSpPr/>
          <p:nvPr/>
        </p:nvGrpSpPr>
        <p:grpSpPr>
          <a:xfrm>
            <a:off x="3391541" y="2328183"/>
            <a:ext cx="269973" cy="275373"/>
            <a:chOff x="3391541" y="2328183"/>
            <a:chExt cx="269973" cy="275373"/>
          </a:xfrm>
        </p:grpSpPr>
        <p:sp>
          <p:nvSpPr>
            <p:cNvPr id="914" name="Rounded Rectangle 913"/>
            <p:cNvSpPr/>
            <p:nvPr/>
          </p:nvSpPr>
          <p:spPr>
            <a:xfrm>
              <a:off x="3391541" y="2360580"/>
              <a:ext cx="269973" cy="242976"/>
            </a:xfrm>
            <a:prstGeom prst="roundRect">
              <a:avLst/>
            </a:prstGeom>
            <a:noFill/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5" name="Rectangle 914"/>
            <p:cNvSpPr/>
            <p:nvPr/>
          </p:nvSpPr>
          <p:spPr>
            <a:xfrm>
              <a:off x="3450935" y="2328183"/>
              <a:ext cx="26997" cy="647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6" name="Rectangle 915"/>
            <p:cNvSpPr/>
            <p:nvPr/>
          </p:nvSpPr>
          <p:spPr>
            <a:xfrm>
              <a:off x="3575123" y="2328183"/>
              <a:ext cx="26997" cy="647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17" name="Connector 916"/>
            <p:cNvCxnSpPr/>
            <p:nvPr/>
          </p:nvCxnSpPr>
          <p:spPr>
            <a:xfrm>
              <a:off x="3391541" y="2436172"/>
              <a:ext cx="269973" cy="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8" name="Rectangle 917"/>
            <p:cNvSpPr/>
            <p:nvPr/>
          </p:nvSpPr>
          <p:spPr>
            <a:xfrm>
              <a:off x="3445535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3513029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0" name="Rectangle 919"/>
            <p:cNvSpPr/>
            <p:nvPr/>
          </p:nvSpPr>
          <p:spPr>
            <a:xfrm>
              <a:off x="3580522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1" name="Rectangle 920"/>
            <p:cNvSpPr/>
            <p:nvPr/>
          </p:nvSpPr>
          <p:spPr>
            <a:xfrm>
              <a:off x="3445535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2" name="Rectangle 921"/>
            <p:cNvSpPr/>
            <p:nvPr/>
          </p:nvSpPr>
          <p:spPr>
            <a:xfrm>
              <a:off x="3513029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3580522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24" name="Oval 923"/>
          <p:cNvSpPr/>
          <p:nvPr/>
        </p:nvSpPr>
        <p:spPr>
          <a:xfrm>
            <a:off x="1623508" y="2997652"/>
            <a:ext cx="701930" cy="701930"/>
          </a:xfrm>
          <a:prstGeom prst="ellipse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DEDEB9-C5F2-4DB8-B115-5085D1F20A85}"/>
              </a:ext>
            </a:extLst>
          </p:cNvPr>
          <p:cNvGrpSpPr/>
          <p:nvPr/>
        </p:nvGrpSpPr>
        <p:grpSpPr>
          <a:xfrm>
            <a:off x="1839486" y="3185863"/>
            <a:ext cx="269973" cy="322441"/>
            <a:chOff x="1960655" y="3167451"/>
            <a:chExt cx="269973" cy="322441"/>
          </a:xfrm>
        </p:grpSpPr>
        <p:sp>
          <p:nvSpPr>
            <p:cNvPr id="925" name="Isosceles Triangle 924"/>
            <p:cNvSpPr/>
            <p:nvPr/>
          </p:nvSpPr>
          <p:spPr>
            <a:xfrm>
              <a:off x="1960655" y="3268514"/>
              <a:ext cx="269973" cy="221378"/>
            </a:xfrm>
            <a:prstGeom prst="triangle">
              <a:avLst/>
            </a:prstGeom>
            <a:noFill/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6" name="Isosceles Triangle 925"/>
            <p:cNvSpPr/>
            <p:nvPr/>
          </p:nvSpPr>
          <p:spPr>
            <a:xfrm>
              <a:off x="2022748" y="3387302"/>
              <a:ext cx="145785" cy="86391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7" name="Rectangle 926"/>
            <p:cNvSpPr/>
            <p:nvPr/>
          </p:nvSpPr>
          <p:spPr>
            <a:xfrm>
              <a:off x="2065944" y="3189049"/>
              <a:ext cx="59394" cy="917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2038947" y="3167451"/>
              <a:ext cx="113388" cy="242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29" name="Oval 928"/>
          <p:cNvSpPr/>
          <p:nvPr/>
        </p:nvSpPr>
        <p:spPr>
          <a:xfrm>
            <a:off x="4620217" y="1256780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31" name="Oval 930"/>
          <p:cNvSpPr/>
          <p:nvPr/>
        </p:nvSpPr>
        <p:spPr>
          <a:xfrm>
            <a:off x="1636651" y="2888368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5426048" y="1378214"/>
            <a:ext cx="971904" cy="320289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952" b="1" dirty="0">
                <a:solidFill>
                  <a:srgbClr val="465059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Calibri"/>
                <a:ea typeface="微软雅黑"/>
              </a:rPr>
              <a:t>Better Outcome Seekers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5426501" y="1681934"/>
            <a:ext cx="971904" cy="215978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692" b="0" dirty="0">
                <a:solidFill>
                  <a:srgbClr val="797979"/>
                </a:solidFill>
                <a:latin typeface="Calibri"/>
                <a:ea typeface="微软雅黑"/>
              </a:rPr>
              <a:t>Vision gains · Stable disease control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3917880" y="2382569"/>
            <a:ext cx="1025899" cy="320289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952" b="1" dirty="0">
                <a:solidFill>
                  <a:srgbClr val="465059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Calibri"/>
                <a:ea typeface="微软雅黑"/>
              </a:rPr>
              <a:t>Burden Reduction Seekers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3917880" y="2682492"/>
            <a:ext cx="1025899" cy="215978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692" b="0" dirty="0">
                <a:solidFill>
                  <a:srgbClr val="797979"/>
                </a:solidFill>
                <a:latin typeface="Calibri"/>
                <a:ea typeface="微软雅黑"/>
              </a:rPr>
              <a:t>Fewer injections · Fewer visits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2367228" y="3058428"/>
            <a:ext cx="904410" cy="320289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r>
              <a:rPr sz="952" b="1" dirty="0">
                <a:solidFill>
                  <a:srgbClr val="465059"/>
                </a:solidFill>
                <a:effectLst>
                  <a:glow rad="101600">
                    <a:schemeClr val="bg1"/>
                  </a:glow>
                </a:effectLst>
                <a:latin typeface="Calibri"/>
                <a:ea typeface="微软雅黑"/>
              </a:rPr>
              <a:t>Confident Experimenters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2367228" y="3377849"/>
            <a:ext cx="904410" cy="240267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r>
              <a:rPr sz="692" b="0" dirty="0">
                <a:solidFill>
                  <a:srgbClr val="797979"/>
                </a:solidFill>
                <a:latin typeface="Calibri"/>
                <a:ea typeface="微软雅黑"/>
              </a:rPr>
              <a:t>Evidence-driven · Open to innovation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1812493" y="4079446"/>
            <a:ext cx="102589" cy="102589"/>
          </a:xfrm>
          <a:prstGeom prst="round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Rounded Rectangle 941"/>
          <p:cNvSpPr/>
          <p:nvPr/>
        </p:nvSpPr>
        <p:spPr>
          <a:xfrm>
            <a:off x="1960978" y="4079446"/>
            <a:ext cx="102589" cy="102589"/>
          </a:xfrm>
          <a:prstGeom prst="round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3" name="Rounded Rectangle 942"/>
          <p:cNvSpPr/>
          <p:nvPr/>
        </p:nvSpPr>
        <p:spPr>
          <a:xfrm>
            <a:off x="2109464" y="4079446"/>
            <a:ext cx="102589" cy="102589"/>
          </a:xfrm>
          <a:prstGeom prst="roundRect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2298445" y="4063248"/>
            <a:ext cx="3104694" cy="134986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ctr">
            <a:spAutoFit/>
          </a:bodyPr>
          <a:lstStyle/>
          <a:p>
            <a:pPr algn="l"/>
            <a:r>
              <a:rPr sz="736" b="0" dirty="0">
                <a:solidFill>
                  <a:srgbClr val="797979"/>
                </a:solidFill>
                <a:latin typeface="Calibri"/>
                <a:ea typeface="微软雅黑"/>
              </a:rPr>
              <a:t>Bubble color and position = potential for the novel agent (high → low)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6587351" y="11743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Rectangle 945"/>
          <p:cNvSpPr/>
          <p:nvPr/>
        </p:nvSpPr>
        <p:spPr>
          <a:xfrm>
            <a:off x="6511152" y="1174384"/>
            <a:ext cx="75592" cy="923309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0410468-252D-4FCF-A493-64422324B3D5}"/>
              </a:ext>
            </a:extLst>
          </p:cNvPr>
          <p:cNvGrpSpPr/>
          <p:nvPr/>
        </p:nvGrpSpPr>
        <p:grpSpPr>
          <a:xfrm>
            <a:off x="6673032" y="1307659"/>
            <a:ext cx="177848" cy="91792"/>
            <a:chOff x="6681302" y="1300731"/>
            <a:chExt cx="200860" cy="103669"/>
          </a:xfrm>
        </p:grpSpPr>
        <p:sp>
          <p:nvSpPr>
            <p:cNvPr id="947" name="Oval 946"/>
            <p:cNvSpPr/>
            <p:nvPr/>
          </p:nvSpPr>
          <p:spPr>
            <a:xfrm>
              <a:off x="6681302" y="1300731"/>
              <a:ext cx="200860" cy="103669"/>
            </a:xfrm>
            <a:prstGeom prst="ellipse">
              <a:avLst/>
            </a:prstGeom>
            <a:noFill/>
            <a:ln w="25400">
              <a:solidFill>
                <a:srgbClr val="1EB3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8" name="Oval 947"/>
            <p:cNvSpPr/>
            <p:nvPr/>
          </p:nvSpPr>
          <p:spPr>
            <a:xfrm>
              <a:off x="6755815" y="1326649"/>
              <a:ext cx="51834" cy="51834"/>
            </a:xfrm>
            <a:prstGeom prst="ellipse">
              <a:avLst/>
            </a:prstGeom>
            <a:solidFill>
              <a:srgbClr val="1EB3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49" name="TextBox 948"/>
          <p:cNvSpPr txBox="1"/>
          <p:nvPr/>
        </p:nvSpPr>
        <p:spPr>
          <a:xfrm>
            <a:off x="6911319" y="1269919"/>
            <a:ext cx="1228379" cy="256474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865" b="1" dirty="0">
                <a:solidFill>
                  <a:srgbClr val="2B3A42"/>
                </a:solidFill>
                <a:latin typeface="Calibri"/>
                <a:ea typeface="微软雅黑"/>
              </a:rPr>
              <a:t>Better Outcome Seekers</a:t>
            </a:r>
          </a:p>
        </p:txBody>
      </p:sp>
      <p:sp>
        <p:nvSpPr>
          <p:cNvPr id="950" name="Rounded Rectangle 949"/>
          <p:cNvSpPr/>
          <p:nvPr/>
        </p:nvSpPr>
        <p:spPr>
          <a:xfrm>
            <a:off x="8220690" y="1275340"/>
            <a:ext cx="445456" cy="148485"/>
          </a:xfrm>
          <a:prstGeom prst="round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498" tIns="0" rIns="13498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  <a:latin typeface="Calibri"/>
              </a:rPr>
              <a:t>HIGHEST</a:t>
            </a:r>
          </a:p>
        </p:txBody>
      </p:sp>
      <p:cxnSp>
        <p:nvCxnSpPr>
          <p:cNvPr id="951" name="Connector 950"/>
          <p:cNvCxnSpPr>
            <a:cxnSpLocks/>
          </p:cNvCxnSpPr>
          <p:nvPr/>
        </p:nvCxnSpPr>
        <p:spPr>
          <a:xfrm>
            <a:off x="6673032" y="1492953"/>
            <a:ext cx="1939120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6673032" y="1530748"/>
            <a:ext cx="1903312" cy="518348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 dirty="0">
                <a:solidFill>
                  <a:srgbClr val="404040"/>
                </a:solidFill>
                <a:latin typeface="Calibri"/>
                <a:ea typeface="微软雅黑"/>
              </a:rPr>
              <a:t>Not fully satisfied with current efficacy; seek further vision gains or more stable disease control; sensitive to the efficacy plateau of existing anti-VEGF therapy.</a:t>
            </a:r>
          </a:p>
        </p:txBody>
      </p:sp>
      <p:sp>
        <p:nvSpPr>
          <p:cNvPr id="953" name="Rectangle 952"/>
          <p:cNvSpPr/>
          <p:nvPr/>
        </p:nvSpPr>
        <p:spPr>
          <a:xfrm>
            <a:off x="6587351" y="21921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54" name="Rectangle 953"/>
          <p:cNvSpPr/>
          <p:nvPr/>
        </p:nvSpPr>
        <p:spPr>
          <a:xfrm>
            <a:off x="6511152" y="2192184"/>
            <a:ext cx="75592" cy="923309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93CB42F-5906-4243-9C1F-5721D7E5A998}"/>
              </a:ext>
            </a:extLst>
          </p:cNvPr>
          <p:cNvGrpSpPr/>
          <p:nvPr/>
        </p:nvGrpSpPr>
        <p:grpSpPr>
          <a:xfrm>
            <a:off x="6673032" y="2265353"/>
            <a:ext cx="161984" cy="165224"/>
            <a:chOff x="6700740" y="2286134"/>
            <a:chExt cx="161984" cy="165224"/>
          </a:xfrm>
        </p:grpSpPr>
        <p:sp>
          <p:nvSpPr>
            <p:cNvPr id="955" name="Rounded Rectangle 954"/>
            <p:cNvSpPr/>
            <p:nvPr/>
          </p:nvSpPr>
          <p:spPr>
            <a:xfrm>
              <a:off x="6700740" y="2305573"/>
              <a:ext cx="161984" cy="145785"/>
            </a:xfrm>
            <a:prstGeom prst="roundRect">
              <a:avLst/>
            </a:prstGeom>
            <a:noFill/>
            <a:ln w="25400">
              <a:solidFill>
                <a:srgbClr val="6DDA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6" name="Rectangle 955"/>
            <p:cNvSpPr/>
            <p:nvPr/>
          </p:nvSpPr>
          <p:spPr>
            <a:xfrm>
              <a:off x="6736376" y="2286134"/>
              <a:ext cx="16198" cy="38876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7" name="Rectangle 956"/>
            <p:cNvSpPr/>
            <p:nvPr/>
          </p:nvSpPr>
          <p:spPr>
            <a:xfrm>
              <a:off x="6810889" y="2286134"/>
              <a:ext cx="16198" cy="38876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58" name="Connector 957"/>
            <p:cNvCxnSpPr/>
            <p:nvPr/>
          </p:nvCxnSpPr>
          <p:spPr>
            <a:xfrm>
              <a:off x="6700740" y="2350928"/>
              <a:ext cx="161984" cy="0"/>
            </a:xfrm>
            <a:prstGeom prst="line">
              <a:avLst/>
            </a:prstGeom>
            <a:ln w="19050">
              <a:solidFill>
                <a:srgbClr val="6DD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9" name="Rectangle 958"/>
            <p:cNvSpPr/>
            <p:nvPr/>
          </p:nvSpPr>
          <p:spPr>
            <a:xfrm>
              <a:off x="6733137" y="2383325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0" name="Rectangle 959"/>
            <p:cNvSpPr/>
            <p:nvPr/>
          </p:nvSpPr>
          <p:spPr>
            <a:xfrm>
              <a:off x="6773633" y="2383325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1" name="Rectangle 960"/>
            <p:cNvSpPr/>
            <p:nvPr/>
          </p:nvSpPr>
          <p:spPr>
            <a:xfrm>
              <a:off x="6814129" y="2383325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2" name="Rectangle 961"/>
            <p:cNvSpPr/>
            <p:nvPr/>
          </p:nvSpPr>
          <p:spPr>
            <a:xfrm>
              <a:off x="6733137" y="2422201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6773633" y="2422201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6814129" y="2422201"/>
              <a:ext cx="21057" cy="21057"/>
            </a:xfrm>
            <a:prstGeom prst="rect">
              <a:avLst/>
            </a:prstGeom>
            <a:solidFill>
              <a:srgbClr val="6DDA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65" name="TextBox 964"/>
          <p:cNvSpPr txBox="1"/>
          <p:nvPr/>
        </p:nvSpPr>
        <p:spPr>
          <a:xfrm>
            <a:off x="6920978" y="2279814"/>
            <a:ext cx="1309371" cy="160373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865" b="1" dirty="0">
                <a:solidFill>
                  <a:srgbClr val="2B3A42"/>
                </a:solidFill>
                <a:latin typeface="Calibri"/>
                <a:ea typeface="微软雅黑"/>
              </a:rPr>
              <a:t>Burden Reduction Seekers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8220690" y="2286563"/>
            <a:ext cx="445456" cy="148485"/>
          </a:xfrm>
          <a:prstGeom prst="round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498" tIns="0" rIns="1349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2ND</a:t>
            </a:r>
          </a:p>
        </p:txBody>
      </p:sp>
      <p:cxnSp>
        <p:nvCxnSpPr>
          <p:cNvPr id="967" name="Connector 966"/>
          <p:cNvCxnSpPr>
            <a:cxnSpLocks/>
          </p:cNvCxnSpPr>
          <p:nvPr/>
        </p:nvCxnSpPr>
        <p:spPr>
          <a:xfrm>
            <a:off x="6673032" y="2510752"/>
            <a:ext cx="1939120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8" name="TextBox 967"/>
          <p:cNvSpPr txBox="1"/>
          <p:nvPr/>
        </p:nvSpPr>
        <p:spPr>
          <a:xfrm>
            <a:off x="6673032" y="2548549"/>
            <a:ext cx="1903312" cy="518348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 dirty="0">
                <a:solidFill>
                  <a:srgbClr val="404040"/>
                </a:solidFill>
                <a:latin typeface="Calibri"/>
                <a:ea typeface="微软雅黑"/>
              </a:rPr>
              <a:t>Acknowledge current efficacy but frustrated with frequent injections, repeat visits and the long-term treatment burden; eager to reduce injection frequency.</a:t>
            </a:r>
          </a:p>
        </p:txBody>
      </p:sp>
      <p:sp>
        <p:nvSpPr>
          <p:cNvPr id="969" name="Rectangle 968"/>
          <p:cNvSpPr/>
          <p:nvPr/>
        </p:nvSpPr>
        <p:spPr>
          <a:xfrm>
            <a:off x="6587351" y="32099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Rectangle 969"/>
          <p:cNvSpPr/>
          <p:nvPr/>
        </p:nvSpPr>
        <p:spPr>
          <a:xfrm>
            <a:off x="6511152" y="3209984"/>
            <a:ext cx="75592" cy="923309"/>
          </a:xfrm>
          <a:prstGeom prst="rect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A9A7626-0C9A-4365-A7BB-027788AE7BB0}"/>
              </a:ext>
            </a:extLst>
          </p:cNvPr>
          <p:cNvGrpSpPr/>
          <p:nvPr/>
        </p:nvGrpSpPr>
        <p:grpSpPr>
          <a:xfrm>
            <a:off x="6673032" y="3263977"/>
            <a:ext cx="158830" cy="193771"/>
            <a:chOff x="6700740" y="3320133"/>
            <a:chExt cx="161984" cy="197619"/>
          </a:xfrm>
        </p:grpSpPr>
        <p:sp>
          <p:nvSpPr>
            <p:cNvPr id="971" name="Isosceles Triangle 970"/>
            <p:cNvSpPr/>
            <p:nvPr/>
          </p:nvSpPr>
          <p:spPr>
            <a:xfrm>
              <a:off x="6700740" y="3384926"/>
              <a:ext cx="161984" cy="132826"/>
            </a:xfrm>
            <a:prstGeom prst="triangle">
              <a:avLst/>
            </a:prstGeom>
            <a:noFill/>
            <a:ln w="25400">
              <a:solidFill>
                <a:srgbClr val="C3C3C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2" name="Isosceles Triangle 971"/>
            <p:cNvSpPr/>
            <p:nvPr/>
          </p:nvSpPr>
          <p:spPr>
            <a:xfrm>
              <a:off x="6737996" y="3456199"/>
              <a:ext cx="87471" cy="51834"/>
            </a:xfrm>
            <a:prstGeom prst="triangle">
              <a:avLst/>
            </a:pr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6763914" y="3333091"/>
              <a:ext cx="35636" cy="55074"/>
            </a:xfrm>
            <a:prstGeom prst="rect">
              <a:avLst/>
            </a:pr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6747715" y="3320133"/>
              <a:ext cx="68033" cy="14578"/>
            </a:xfrm>
            <a:prstGeom prst="rect">
              <a:avLst/>
            </a:prstGeom>
            <a:solidFill>
              <a:srgbClr val="C3C3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75" name="TextBox 974"/>
          <p:cNvSpPr txBox="1"/>
          <p:nvPr/>
        </p:nvSpPr>
        <p:spPr>
          <a:xfrm>
            <a:off x="6924278" y="3292181"/>
            <a:ext cx="1228379" cy="256474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865" b="1">
                <a:solidFill>
                  <a:srgbClr val="2B3A42"/>
                </a:solidFill>
                <a:latin typeface="Calibri"/>
                <a:ea typeface="微软雅黑"/>
              </a:rPr>
              <a:t>Confident Experimenters</a:t>
            </a:r>
          </a:p>
        </p:txBody>
      </p:sp>
      <p:sp>
        <p:nvSpPr>
          <p:cNvPr id="976" name="Rounded Rectangle 975"/>
          <p:cNvSpPr/>
          <p:nvPr/>
        </p:nvSpPr>
        <p:spPr>
          <a:xfrm>
            <a:off x="8214531" y="3303606"/>
            <a:ext cx="445456" cy="148485"/>
          </a:xfrm>
          <a:prstGeom prst="roundRect">
            <a:avLst/>
          </a:prstGeom>
          <a:solidFill>
            <a:srgbClr val="797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498" tIns="0" rIns="13498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  <a:latin typeface="Calibri"/>
              </a:rPr>
              <a:t>3RD</a:t>
            </a:r>
          </a:p>
        </p:txBody>
      </p:sp>
      <p:cxnSp>
        <p:nvCxnSpPr>
          <p:cNvPr id="977" name="Connector 976"/>
          <p:cNvCxnSpPr>
            <a:cxnSpLocks/>
          </p:cNvCxnSpPr>
          <p:nvPr/>
        </p:nvCxnSpPr>
        <p:spPr>
          <a:xfrm>
            <a:off x="6673032" y="3528552"/>
            <a:ext cx="1939120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8" name="TextBox 977"/>
          <p:cNvSpPr txBox="1"/>
          <p:nvPr/>
        </p:nvSpPr>
        <p:spPr>
          <a:xfrm>
            <a:off x="6673032" y="3566348"/>
            <a:ext cx="1903312" cy="518348"/>
          </a:xfrm>
          <a:prstGeom prst="rect">
            <a:avLst/>
          </a:prstGeom>
          <a:noFill/>
          <a:ln>
            <a:noFill/>
          </a:ln>
        </p:spPr>
        <p:txBody>
          <a:bodyPr wrap="square" lIns="26997" tIns="13498" rIns="26997" bIns="13498" anchor="t">
            <a:spAutoFit/>
          </a:bodyPr>
          <a:lstStyle/>
          <a:p>
            <a:pPr algn="l"/>
            <a:r>
              <a:rPr sz="779" b="0">
                <a:solidFill>
                  <a:srgbClr val="404040"/>
                </a:solidFill>
                <a:latin typeface="Calibri"/>
                <a:ea typeface="微软雅黑"/>
              </a:rPr>
              <a:t>Broadly satisfied with the current regimen yet open to innovative therapies; guided by clinical evidence rather than brand loyalty.</a:t>
            </a:r>
          </a:p>
        </p:txBody>
      </p:sp>
      <p:sp>
        <p:nvSpPr>
          <p:cNvPr id="88" name="Oval 912">
            <a:extLst>
              <a:ext uri="{FF2B5EF4-FFF2-40B4-BE49-F238E27FC236}">
                <a16:creationId xmlns:a16="http://schemas.microsoft.com/office/drawing/2014/main" id="{E4115A25-5A01-41AD-B99C-EFF8EFA40B22}"/>
              </a:ext>
            </a:extLst>
          </p:cNvPr>
          <p:cNvSpPr/>
          <p:nvPr/>
        </p:nvSpPr>
        <p:spPr>
          <a:xfrm>
            <a:off x="3181590" y="2309929"/>
            <a:ext cx="701930" cy="701930"/>
          </a:xfrm>
          <a:prstGeom prst="ellipse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F7983A8C-285D-42CB-AD80-79320C945174}"/>
              </a:ext>
            </a:extLst>
          </p:cNvPr>
          <p:cNvGrpSpPr/>
          <p:nvPr/>
        </p:nvGrpSpPr>
        <p:grpSpPr>
          <a:xfrm>
            <a:off x="3397569" y="2520508"/>
            <a:ext cx="269973" cy="275373"/>
            <a:chOff x="3391541" y="2328183"/>
            <a:chExt cx="269973" cy="275373"/>
          </a:xfrm>
        </p:grpSpPr>
        <p:sp>
          <p:nvSpPr>
            <p:cNvPr id="90" name="Rounded Rectangle 913">
              <a:extLst>
                <a:ext uri="{FF2B5EF4-FFF2-40B4-BE49-F238E27FC236}">
                  <a16:creationId xmlns:a16="http://schemas.microsoft.com/office/drawing/2014/main" id="{F8DE5F90-2A2C-423C-AD69-C79A34706040}"/>
                </a:ext>
              </a:extLst>
            </p:cNvPr>
            <p:cNvSpPr/>
            <p:nvPr/>
          </p:nvSpPr>
          <p:spPr>
            <a:xfrm>
              <a:off x="3391541" y="2360580"/>
              <a:ext cx="269973" cy="242976"/>
            </a:xfrm>
            <a:prstGeom prst="roundRect">
              <a:avLst/>
            </a:prstGeom>
            <a:noFill/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ectangle 914">
              <a:extLst>
                <a:ext uri="{FF2B5EF4-FFF2-40B4-BE49-F238E27FC236}">
                  <a16:creationId xmlns:a16="http://schemas.microsoft.com/office/drawing/2014/main" id="{039B2D2E-060F-404C-8C44-3286DBC371AF}"/>
                </a:ext>
              </a:extLst>
            </p:cNvPr>
            <p:cNvSpPr/>
            <p:nvPr/>
          </p:nvSpPr>
          <p:spPr>
            <a:xfrm>
              <a:off x="3450935" y="2328183"/>
              <a:ext cx="26997" cy="647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ectangle 915">
              <a:extLst>
                <a:ext uri="{FF2B5EF4-FFF2-40B4-BE49-F238E27FC236}">
                  <a16:creationId xmlns:a16="http://schemas.microsoft.com/office/drawing/2014/main" id="{18849FAC-E8EE-410F-A534-F9270DD8E8F3}"/>
                </a:ext>
              </a:extLst>
            </p:cNvPr>
            <p:cNvSpPr/>
            <p:nvPr/>
          </p:nvSpPr>
          <p:spPr>
            <a:xfrm>
              <a:off x="3575123" y="2328183"/>
              <a:ext cx="26997" cy="647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3" name="Connector 916">
              <a:extLst>
                <a:ext uri="{FF2B5EF4-FFF2-40B4-BE49-F238E27FC236}">
                  <a16:creationId xmlns:a16="http://schemas.microsoft.com/office/drawing/2014/main" id="{357D328C-114F-4332-9483-803D062A7426}"/>
                </a:ext>
              </a:extLst>
            </p:cNvPr>
            <p:cNvCxnSpPr/>
            <p:nvPr/>
          </p:nvCxnSpPr>
          <p:spPr>
            <a:xfrm>
              <a:off x="3391541" y="2436172"/>
              <a:ext cx="269973" cy="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917">
              <a:extLst>
                <a:ext uri="{FF2B5EF4-FFF2-40B4-BE49-F238E27FC236}">
                  <a16:creationId xmlns:a16="http://schemas.microsoft.com/office/drawing/2014/main" id="{7B0DCEDA-751A-4D19-917A-9F45B49F70AF}"/>
                </a:ext>
              </a:extLst>
            </p:cNvPr>
            <p:cNvSpPr/>
            <p:nvPr/>
          </p:nvSpPr>
          <p:spPr>
            <a:xfrm>
              <a:off x="3445535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ectangle 918">
              <a:extLst>
                <a:ext uri="{FF2B5EF4-FFF2-40B4-BE49-F238E27FC236}">
                  <a16:creationId xmlns:a16="http://schemas.microsoft.com/office/drawing/2014/main" id="{C0ACC420-DC77-4CBD-8AE6-147642F06301}"/>
                </a:ext>
              </a:extLst>
            </p:cNvPr>
            <p:cNvSpPr/>
            <p:nvPr/>
          </p:nvSpPr>
          <p:spPr>
            <a:xfrm>
              <a:off x="3513029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ectangle 919">
              <a:extLst>
                <a:ext uri="{FF2B5EF4-FFF2-40B4-BE49-F238E27FC236}">
                  <a16:creationId xmlns:a16="http://schemas.microsoft.com/office/drawing/2014/main" id="{0ECE65C8-7D26-45F1-93A7-9B2163D1547E}"/>
                </a:ext>
              </a:extLst>
            </p:cNvPr>
            <p:cNvSpPr/>
            <p:nvPr/>
          </p:nvSpPr>
          <p:spPr>
            <a:xfrm>
              <a:off x="3580522" y="2490167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ectangle 920">
              <a:extLst>
                <a:ext uri="{FF2B5EF4-FFF2-40B4-BE49-F238E27FC236}">
                  <a16:creationId xmlns:a16="http://schemas.microsoft.com/office/drawing/2014/main" id="{3CA77B78-7E71-4537-B473-94569946628D}"/>
                </a:ext>
              </a:extLst>
            </p:cNvPr>
            <p:cNvSpPr/>
            <p:nvPr/>
          </p:nvSpPr>
          <p:spPr>
            <a:xfrm>
              <a:off x="3445535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Rectangle 921">
              <a:extLst>
                <a:ext uri="{FF2B5EF4-FFF2-40B4-BE49-F238E27FC236}">
                  <a16:creationId xmlns:a16="http://schemas.microsoft.com/office/drawing/2014/main" id="{0CA694A2-69A0-4685-8CEB-3273A6D8BCD5}"/>
                </a:ext>
              </a:extLst>
            </p:cNvPr>
            <p:cNvSpPr/>
            <p:nvPr/>
          </p:nvSpPr>
          <p:spPr>
            <a:xfrm>
              <a:off x="3513029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Rectangle 922">
              <a:extLst>
                <a:ext uri="{FF2B5EF4-FFF2-40B4-BE49-F238E27FC236}">
                  <a16:creationId xmlns:a16="http://schemas.microsoft.com/office/drawing/2014/main" id="{DC2BDE2E-0D37-46B9-B088-D6DF7FECC86D}"/>
                </a:ext>
              </a:extLst>
            </p:cNvPr>
            <p:cNvSpPr/>
            <p:nvPr/>
          </p:nvSpPr>
          <p:spPr>
            <a:xfrm>
              <a:off x="3580522" y="2554961"/>
              <a:ext cx="35096" cy="350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30" name="Oval 929"/>
          <p:cNvSpPr/>
          <p:nvPr/>
        </p:nvSpPr>
        <p:spPr>
          <a:xfrm>
            <a:off x="3120407" y="2224708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5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70999999999999996447E+00&quot;&gt;&lt;m_msothmcolidx val=&quot;0&quot;/&gt;&lt;m_rgb r=&quot;9D&quot; g=&quot;E6&quot; b=&quot;F0&quot;/&gt;&lt;/elem&gt;&lt;elem m_fUsage=&quot;1.67705720999999985388E+00&quot;&gt;&lt;m_msothmcolidx val=&quot;0&quot;/&gt;&lt;m_rgb r=&quot;C1&quot; g=&quot;00&quot; b=&quot;00&quot;/&gt;&lt;/elem&gt;&lt;elem m_fUsage=&quot;1.26044100000000014461E+00&quot;&gt;&lt;m_msothmcolidx val=&quot;0&quot;/&gt;&lt;m_rgb r=&quot;49&quot; g=&quot;7E&quot; b=&quot;C2&quot;/&gt;&lt;/elem&gt;&lt;elem m_fUsage=&quot;6.69850025480999811123E-01&quot;&gt;&lt;m_msothmcolidx val=&quot;0&quot;/&gt;&lt;m_rgb r=&quot;E2&quot; g=&quot;EC&quot; b=&quot;F1&quot;/&gt;&lt;/elem&gt;&lt;elem m_fUsage=&quot;4.78296900000000080322E-01&quot;&gt;&lt;m_msothmcolidx val=&quot;0&quot;/&gt;&lt;m_rgb r=&quot;F4&quot; g=&quot;B3&quot; b=&quot;84&quot;/&gt;&lt;/elem&gt;&lt;elem m_fUsage=&quot;3.48678440100000042179E-01&quot;&gt;&lt;m_msothmcolidx val=&quot;0&quot;/&gt;&lt;m_rgb r=&quot;D9&quot; g=&quot;D9&quot; b=&quot;D9&quot;/&gt;&lt;/elem&gt;&lt;elem m_fUsage=&quot;3.13810596090000004654E-01&quot;&gt;&lt;m_msothmcolidx val=&quot;0&quot;/&gt;&lt;m_rgb r=&quot;71&quot; g=&quot;A4&quot; b=&quot;BD&quot;/&gt;&lt;/elem&gt;&lt;elem m_fUsage=&quot;2.54186582832900076490E-01&quot;&gt;&lt;m_msothmcolidx val=&quot;0&quot;/&gt;&lt;m_rgb r=&quot;00&quot; g=&quot;19&quot; b=&quot;3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4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32000" tIns="46800" rIns="72000" bIns="46800" numCol="1" rtlCol="0" anchor="ctr" anchorCtr="0" compatLnSpc="1">
        <a:prstTxWarp prst="textNoShape">
          <a:avLst/>
        </a:prstTxWarp>
        <a:noAutofit/>
      </a:bodyPr>
      <a:lstStyle>
        <a:defPPr algn="l" fontAlgn="base">
          <a:spcBef>
            <a:spcPct val="0"/>
          </a:spcBef>
          <a:spcAft>
            <a:spcPct val="0"/>
          </a:spcAft>
          <a:buClr>
            <a:srgbClr val="CC0000"/>
          </a:buClr>
          <a:defRPr sz="1400" dirty="0" smtClean="0">
            <a:solidFill>
              <a:srgbClr val="000000"/>
            </a:solidFill>
            <a:latin typeface="Calibri" pitchFamily="34" charset="0"/>
            <a:ea typeface="华文楷体" pitchFamily="2" charset="-122"/>
            <a:cs typeface="Calibri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4716</TotalTime>
  <Words>161</Words>
  <Application>Microsoft Office PowerPoint</Application>
  <PresentationFormat>全屏显示(16:9)</PresentationFormat>
  <Paragraphs>25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DengXian</vt:lpstr>
      <vt:lpstr>微软雅黑</vt:lpstr>
      <vt:lpstr>Arial</vt:lpstr>
      <vt:lpstr>Calibri</vt:lpstr>
      <vt:lpstr>Wingdings</vt:lpstr>
      <vt:lpstr>14_EN</vt:lpstr>
      <vt:lpstr>17_EN</vt:lpstr>
      <vt:lpstr>EN</vt:lpstr>
      <vt:lpstr>15_EN</vt:lpstr>
      <vt:lpstr>2_EN</vt:lpstr>
      <vt:lpstr>think-cell 幻灯片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iHEALTH</dc:creator>
  <cp:lastModifiedBy>shu.yu@xinfei.cn</cp:lastModifiedBy>
  <cp:revision>5</cp:revision>
  <cp:lastPrinted>2025-02-24T03:39:49Z</cp:lastPrinted>
  <dcterms:created xsi:type="dcterms:W3CDTF">2021-01-29T04:12:19Z</dcterms:created>
  <dcterms:modified xsi:type="dcterms:W3CDTF">2026-09-17T12:17:41Z</dcterms:modified>
</cp:coreProperties>
</file>